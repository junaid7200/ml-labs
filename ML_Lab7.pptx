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notesMasterIdLst>
    <p:notesMasterId r:id="rId14"/>
  </p:notesMasterIdLst>
  <p:sldIdLst>
    <p:sldId id="256" r:id="rId3"/>
    <p:sldId id="699" r:id="rId4"/>
    <p:sldId id="481" r:id="rId5"/>
    <p:sldId id="718" r:id="rId6"/>
    <p:sldId id="750" r:id="rId7"/>
    <p:sldId id="493" r:id="rId8"/>
    <p:sldId id="715" r:id="rId9"/>
    <p:sldId id="723" r:id="rId10"/>
    <p:sldId id="748" r:id="rId11"/>
    <p:sldId id="749" r:id="rId12"/>
    <p:sldId id="74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1344" autoAdjust="0"/>
  </p:normalViewPr>
  <p:slideViewPr>
    <p:cSldViewPr snapToGrid="0">
      <p:cViewPr>
        <p:scale>
          <a:sx n="66" d="100"/>
          <a:sy n="66" d="100"/>
        </p:scale>
        <p:origin x="552" y="-1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4" y="2708476"/>
            <a:ext cx="4417807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4" y="4421081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B2D4653-C654-41D6-BC1A-9A2F0BA7556D}" type="datetime1">
              <a:rPr lang="en-US" smtClean="0"/>
              <a:t>11/26/2025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7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5" y="5719967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28657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0DC7-9023-4EA2-9AA7-DE0C1E5026C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611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4" y="2900830"/>
            <a:ext cx="8849957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4" y="4267201"/>
            <a:ext cx="8849956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D8C7C-081D-4325-BCBE-BFB3C88CD35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0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8921-FA0E-491B-A90A-68B94B667F3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1139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5" y="2316009"/>
            <a:ext cx="407619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0" y="2316010"/>
            <a:ext cx="407428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25C6-2366-4B57-8901-C74185ABD5DC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0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C3304-CA81-479F-9B16-EA9383EEB5F3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256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C2DE-6833-4796-85D9-620A2A4712D5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824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130E3-EEE8-4A5B-A1C6-6BEEF1C59919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59" y="856527"/>
            <a:ext cx="4120587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5"/>
            <a:ext cx="4406096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6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406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" name="Rectangle 101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78" y="693795"/>
            <a:ext cx="4479497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1" y="4133089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4FCE-2CC8-4B1B-BA0F-0894C4701D4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106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72C9-CD79-4ED9-A1BC-11297C73F37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40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1030147"/>
            <a:ext cx="1979271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5" y="1030147"/>
            <a:ext cx="7231605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A5FE-48E4-4EF0-AF0C-34745394CA0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82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88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3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8F7862D-8FC9-4C8D-8616-C2D3EDF8285A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1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2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9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tm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1E5C-048A-4021-AAD3-327D2BD4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2929FF"/>
                </a:solidFill>
              </a:rPr>
              <a:t>Lab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C570-4124-40E2-A2FB-030B7E21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757" y="2556932"/>
            <a:ext cx="8619672" cy="331893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Activity 1: K fold cross validation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Confusion Matrix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ROC Curve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9066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63EF7A-E1C6-4077-A38D-EDA5D6E2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7800"/>
            <a:ext cx="10668000" cy="3200400"/>
          </a:xfrm>
        </p:spPr>
        <p:txBody>
          <a:bodyPr>
            <a:prstTxWarp prst="textChevron">
              <a:avLst/>
            </a:prstTxWarp>
          </a:bodyPr>
          <a:lstStyle/>
          <a:p>
            <a:pPr algn="ctr"/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Learning Evaluation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590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D060C-9ECB-433E-858D-7FC90BD7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21" y="453871"/>
            <a:ext cx="9366325" cy="1143000"/>
          </a:xfrm>
        </p:spPr>
        <p:txBody>
          <a:bodyPr/>
          <a:lstStyle/>
          <a:p>
            <a:r>
              <a:rPr lang="en-US" dirty="0"/>
              <a:t>K-Fold Cross Validation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54340-2C2C-49E3-9F80-8C1285CD8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743" y="1436914"/>
            <a:ext cx="5994248" cy="1704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D50C17-CA9B-4880-A1F3-4DBCCED37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29" y="2905191"/>
            <a:ext cx="9724571" cy="412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5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DA3D99-78FF-F1A3-ED67-938C1CCDA862}"/>
              </a:ext>
            </a:extLst>
          </p:cNvPr>
          <p:cNvSpPr txBox="1"/>
          <p:nvPr/>
        </p:nvSpPr>
        <p:spPr>
          <a:xfrm>
            <a:off x="1300842" y="1142644"/>
            <a:ext cx="959575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(</a:t>
            </a:r>
          </a:p>
          <a:p>
            <a:r>
              <a:rPr lang="en-US" dirty="0"/>
              <a:t>    </a:t>
            </a:r>
            <a:r>
              <a:rPr lang="en-US" dirty="0" err="1"/>
              <a:t>KFold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StratifiedKFold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RepeatedKFold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RepeatedStratifiedKFold</a:t>
            </a:r>
            <a:endParaRPr lang="en-US" dirty="0"/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1. Normal K-Fold</a:t>
            </a:r>
          </a:p>
          <a:p>
            <a:r>
              <a:rPr lang="en-US" dirty="0" err="1"/>
              <a:t>kf</a:t>
            </a:r>
            <a:r>
              <a:rPr lang="en-US" dirty="0"/>
              <a:t> = </a:t>
            </a:r>
            <a:r>
              <a:rPr lang="en-US" dirty="0" err="1"/>
              <a:t>KFold</a:t>
            </a:r>
            <a:r>
              <a:rPr lang="en-US" dirty="0"/>
              <a:t>(</a:t>
            </a:r>
            <a:r>
              <a:rPr lang="en-US" dirty="0" err="1"/>
              <a:t>n_splits</a:t>
            </a:r>
            <a:r>
              <a:rPr lang="en-US" dirty="0"/>
              <a:t>=5, shuffle=True,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2. Stratified K-Fold</a:t>
            </a:r>
          </a:p>
          <a:p>
            <a:r>
              <a:rPr lang="en-US" dirty="0" err="1"/>
              <a:t>skf</a:t>
            </a:r>
            <a:r>
              <a:rPr lang="en-US" dirty="0"/>
              <a:t> = </a:t>
            </a:r>
            <a:r>
              <a:rPr lang="en-US" dirty="0" err="1"/>
              <a:t>StratifiedKFold</a:t>
            </a:r>
            <a:r>
              <a:rPr lang="en-US" dirty="0"/>
              <a:t>(</a:t>
            </a:r>
            <a:r>
              <a:rPr lang="en-US" dirty="0" err="1"/>
              <a:t>n_splits</a:t>
            </a:r>
            <a:r>
              <a:rPr lang="en-US" dirty="0"/>
              <a:t>=5, shuffle=True,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3. Repeated K-Fold</a:t>
            </a:r>
          </a:p>
          <a:p>
            <a:r>
              <a:rPr lang="en-US" dirty="0" err="1"/>
              <a:t>rkf</a:t>
            </a:r>
            <a:r>
              <a:rPr lang="en-US" dirty="0"/>
              <a:t> = </a:t>
            </a:r>
            <a:r>
              <a:rPr lang="en-US" dirty="0" err="1"/>
              <a:t>RepeatedKFold</a:t>
            </a:r>
            <a:r>
              <a:rPr lang="en-US" dirty="0"/>
              <a:t>(</a:t>
            </a:r>
            <a:r>
              <a:rPr lang="en-US" dirty="0" err="1"/>
              <a:t>n_splits</a:t>
            </a:r>
            <a:r>
              <a:rPr lang="en-US" dirty="0"/>
              <a:t>=5, </a:t>
            </a:r>
            <a:r>
              <a:rPr lang="en-US" dirty="0" err="1"/>
              <a:t>n_repeats</a:t>
            </a:r>
            <a:r>
              <a:rPr lang="en-US" dirty="0"/>
              <a:t>=3,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4. Repeated Stratified K-Fold</a:t>
            </a:r>
          </a:p>
          <a:p>
            <a:r>
              <a:rPr lang="en-US" dirty="0" err="1"/>
              <a:t>rskf</a:t>
            </a:r>
            <a:r>
              <a:rPr lang="en-US" dirty="0"/>
              <a:t> = </a:t>
            </a:r>
            <a:r>
              <a:rPr lang="en-US" dirty="0" err="1"/>
              <a:t>RepeatedStratifiedKFold</a:t>
            </a:r>
            <a:r>
              <a:rPr lang="en-US" dirty="0"/>
              <a:t>(</a:t>
            </a:r>
            <a:r>
              <a:rPr lang="en-US" dirty="0" err="1"/>
              <a:t>n_splits</a:t>
            </a:r>
            <a:r>
              <a:rPr lang="en-US" dirty="0"/>
              <a:t>=5, </a:t>
            </a:r>
            <a:r>
              <a:rPr lang="en-US" dirty="0" err="1"/>
              <a:t>n_repeats</a:t>
            </a:r>
            <a:r>
              <a:rPr lang="en-US" dirty="0"/>
              <a:t>=3,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E612E-99EF-D18B-5B26-490CBC767F11}"/>
              </a:ext>
            </a:extLst>
          </p:cNvPr>
          <p:cNvSpPr txBox="1"/>
          <p:nvPr/>
        </p:nvSpPr>
        <p:spPr>
          <a:xfrm>
            <a:off x="6417129" y="0"/>
            <a:ext cx="6215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0000"/>
                </a:highlight>
              </a:rPr>
              <a:t>K-Fold Cross Validation Process</a:t>
            </a:r>
          </a:p>
        </p:txBody>
      </p:sp>
    </p:spTree>
    <p:extLst>
      <p:ext uri="{BB962C8B-B14F-4D97-AF65-F5344CB8AC3E}">
        <p14:creationId xmlns:p14="http://schemas.microsoft.com/office/powerpoint/2010/main" val="260359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E7A4-5CF1-4764-967D-E2A251F1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320" y="304800"/>
            <a:ext cx="8057479" cy="72057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Loss Function (Confusion Matrix)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571A6-D32A-4DFD-B6FD-AF572883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143000"/>
            <a:ext cx="10058400" cy="5257800"/>
          </a:xfrm>
        </p:spPr>
        <p:txBody>
          <a:bodyPr>
            <a:normAutofit/>
          </a:bodyPr>
          <a:lstStyle/>
          <a:p>
            <a:r>
              <a:rPr lang="en-US" dirty="0"/>
              <a:t>Confusion Matrix for Binary Classification:</a:t>
            </a:r>
          </a:p>
          <a:p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E45B5412-7AEB-4072-AC0A-D151CF57D006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4876800"/>
          <a:ext cx="6934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86829974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29445407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14290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38677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03426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Predicted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No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83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1541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No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12882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6C8A833C-68BD-4BE3-8DAD-C9B363C9A881}"/>
              </a:ext>
            </a:extLst>
          </p:cNvPr>
          <p:cNvGraphicFramePr>
            <a:graphicFrameLocks noGrp="1"/>
          </p:cNvGraphicFramePr>
          <p:nvPr/>
        </p:nvGraphicFramePr>
        <p:xfrm>
          <a:off x="114300" y="1524000"/>
          <a:ext cx="72771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1868299744"/>
                    </a:ext>
                  </a:extLst>
                </a:gridCol>
                <a:gridCol w="1320521">
                  <a:extLst>
                    <a:ext uri="{9D8B030D-6E8A-4147-A177-3AD203B41FA5}">
                      <a16:colId xmlns:a16="http://schemas.microsoft.com/office/drawing/2014/main" val="4294454079"/>
                    </a:ext>
                  </a:extLst>
                </a:gridCol>
                <a:gridCol w="2239108">
                  <a:extLst>
                    <a:ext uri="{9D8B030D-6E8A-4147-A177-3AD203B41FA5}">
                      <a16:colId xmlns:a16="http://schemas.microsoft.com/office/drawing/2014/main" val="3142900002"/>
                    </a:ext>
                  </a:extLst>
                </a:gridCol>
                <a:gridCol w="2079171">
                  <a:extLst>
                    <a:ext uri="{9D8B030D-6E8A-4147-A177-3AD203B41FA5}">
                      <a16:colId xmlns:a16="http://schemas.microsoft.com/office/drawing/2014/main" val="138677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03426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Predicted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400" b="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583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70C0"/>
                          </a:solidFill>
                        </a:rP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True Positive (TP)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False Positive (FP):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Error 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1541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0070C0"/>
                          </a:solidFill>
                        </a:rP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False Negative (FN)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Error II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True Negative (TN)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0128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FAD8CF8-EF9F-4589-BF29-8729F09421B6}"/>
              </a:ext>
            </a:extLst>
          </p:cNvPr>
          <p:cNvSpPr txBox="1"/>
          <p:nvPr/>
        </p:nvSpPr>
        <p:spPr>
          <a:xfrm>
            <a:off x="7010400" y="3962400"/>
            <a:ext cx="5334002" cy="48936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Accuracy Measures: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Precision :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The model predicted data points belong to Class A , how many were actually belong to class A.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</a:rPr>
              <a:t>Recall: Of all the data points that belong to class A how many were detected by Model.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sz="2400" dirty="0">
                <a:solidFill>
                  <a:prstClr val="black"/>
                </a:solidFill>
              </a:rPr>
              <a:t>Accuracy: </a:t>
            </a:r>
            <a:r>
              <a:rPr lang="en-US" sz="2400" dirty="0"/>
              <a:t>All </a:t>
            </a:r>
            <a:r>
              <a:rPr lang="en-US" sz="2400" b="1" dirty="0"/>
              <a:t>correct predictions</a:t>
            </a:r>
            <a:r>
              <a:rPr lang="en-US" sz="2400" dirty="0"/>
              <a:t> (both positive and negative) out of all predictions.</a:t>
            </a:r>
            <a:endParaRPr lang="en-US" sz="2400" dirty="0">
              <a:solidFill>
                <a:prstClr val="black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F23B9EAA-E951-4272-928D-DFDC02D2D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4038601"/>
            <a:ext cx="2209800" cy="914399"/>
          </a:xfrm>
          <a:prstGeom prst="rect">
            <a:avLst/>
          </a:prstGeom>
        </p:spPr>
      </p:pic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E21CAF69-5458-4AC6-AF9D-CBE4597A6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165" y="2552599"/>
            <a:ext cx="2400635" cy="724001"/>
          </a:xfrm>
          <a:prstGeom prst="rect">
            <a:avLst/>
          </a:prstGeom>
        </p:spPr>
      </p:pic>
      <p:pic>
        <p:nvPicPr>
          <p:cNvPr id="18" name="Picture 17" descr="A picture containing object, clock, water&#10;&#10;Description automatically generated">
            <a:extLst>
              <a:ext uri="{FF2B5EF4-FFF2-40B4-BE49-F238E27FC236}">
                <a16:creationId xmlns:a16="http://schemas.microsoft.com/office/drawing/2014/main" id="{3972B60E-3F42-4BEF-A0C6-07B8E90C4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9" y="1462100"/>
            <a:ext cx="3657601" cy="8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5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899D-09F9-4668-901D-6183273D9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257" y="0"/>
            <a:ext cx="4412343" cy="685022"/>
          </a:xfrm>
          <a:solidFill>
            <a:schemeClr val="bg1">
              <a:lumMod val="9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K-Fold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090A-1FB7-4DC5-A6E9-29CFD3014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640053"/>
            <a:ext cx="9681029" cy="6065547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 Import required libraries</a:t>
            </a:r>
          </a:p>
          <a:p>
            <a:r>
              <a:rPr lang="en-US" dirty="0"/>
              <a:t>import pandas as pd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KFold</a:t>
            </a:r>
            <a:r>
              <a:rPr lang="en-US" dirty="0"/>
              <a:t>, </a:t>
            </a:r>
            <a:r>
              <a:rPr lang="en-US" dirty="0" err="1"/>
              <a:t>cross_val_score</a:t>
            </a:r>
            <a:r>
              <a:rPr lang="en-US" dirty="0"/>
              <a:t>, </a:t>
            </a:r>
            <a:r>
              <a:rPr lang="en-US" dirty="0" err="1"/>
              <a:t>cross_val_predict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sklearn.ensemble</a:t>
            </a:r>
            <a:r>
              <a:rPr lang="en-US" dirty="0"/>
              <a:t> import </a:t>
            </a:r>
            <a:r>
              <a:rPr lang="en-US" dirty="0" err="1"/>
              <a:t>RandomForestClassifier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confusion_matrix</a:t>
            </a:r>
            <a:r>
              <a:rPr lang="en-US" dirty="0"/>
              <a:t>, </a:t>
            </a:r>
            <a:r>
              <a:rPr lang="en-US" dirty="0" err="1"/>
              <a:t>roc_curve</a:t>
            </a:r>
            <a:r>
              <a:rPr lang="en-US" dirty="0"/>
              <a:t>, </a:t>
            </a:r>
            <a:r>
              <a:rPr lang="en-US" dirty="0" err="1"/>
              <a:t>roc_auc_score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endParaRPr lang="en-US" dirty="0"/>
          </a:p>
          <a:p>
            <a:pPr marL="68580" indent="0">
              <a:buNone/>
            </a:pP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Step 1: Load and prepare the data 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("/content/titanic.csv")[['Survived', '</a:t>
            </a:r>
            <a:r>
              <a:rPr lang="en-US" dirty="0" err="1"/>
              <a:t>Pclass</a:t>
            </a:r>
            <a:r>
              <a:rPr lang="en-US" dirty="0"/>
              <a:t>', 'Gender', 'Age', '</a:t>
            </a:r>
            <a:r>
              <a:rPr lang="en-US" dirty="0" err="1"/>
              <a:t>SibSp</a:t>
            </a:r>
            <a:r>
              <a:rPr lang="en-US" dirty="0"/>
              <a:t>', 'Parch', 'Fare']].</a:t>
            </a:r>
            <a:r>
              <a:rPr lang="en-US" dirty="0" err="1"/>
              <a:t>dropna</a:t>
            </a:r>
            <a:r>
              <a:rPr lang="en-US" dirty="0"/>
              <a:t>()</a:t>
            </a:r>
          </a:p>
          <a:p>
            <a:pPr marL="68580" indent="0">
              <a:buNone/>
            </a:pP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Convert 'Gender' to numeric (male=1, female=0)</a:t>
            </a:r>
          </a:p>
          <a:p>
            <a:r>
              <a:rPr lang="en-US" dirty="0" err="1"/>
              <a:t>df</a:t>
            </a:r>
            <a:r>
              <a:rPr lang="en-US" dirty="0"/>
              <a:t>['Gender'] = </a:t>
            </a:r>
            <a:r>
              <a:rPr lang="en-US" dirty="0" err="1"/>
              <a:t>LabelEncoder</a:t>
            </a:r>
            <a:r>
              <a:rPr lang="en-US" dirty="0"/>
              <a:t>().</a:t>
            </a:r>
            <a:r>
              <a:rPr lang="en-US" dirty="0" err="1"/>
              <a:t>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['Gender'])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31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7D434-14C1-4DAE-89F3-80DC0168C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421" y="1098679"/>
            <a:ext cx="10165379" cy="5447264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Split features and target</a:t>
            </a:r>
          </a:p>
          <a:p>
            <a:r>
              <a:rPr lang="en-US" dirty="0"/>
              <a:t>X = </a:t>
            </a:r>
            <a:r>
              <a:rPr lang="en-US" dirty="0" err="1"/>
              <a:t>df.drop</a:t>
            </a:r>
            <a:r>
              <a:rPr lang="en-US" dirty="0"/>
              <a:t>('Survived', axis=1)</a:t>
            </a:r>
          </a:p>
          <a:p>
            <a:r>
              <a:rPr lang="en-US" dirty="0"/>
              <a:t>y = </a:t>
            </a:r>
            <a:r>
              <a:rPr lang="en-US" dirty="0" err="1"/>
              <a:t>df</a:t>
            </a:r>
            <a:r>
              <a:rPr lang="en-US" dirty="0"/>
              <a:t>['Survived']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 Step 2: Define model and K-Fold </a:t>
            </a:r>
          </a:p>
          <a:p>
            <a:r>
              <a:rPr lang="en-US" dirty="0" err="1"/>
              <a:t>kf</a:t>
            </a:r>
            <a:r>
              <a:rPr lang="en-US" dirty="0"/>
              <a:t> = </a:t>
            </a:r>
            <a:r>
              <a:rPr lang="en-US" dirty="0" err="1"/>
              <a:t>KFold</a:t>
            </a:r>
            <a:r>
              <a:rPr lang="en-US" dirty="0"/>
              <a:t>(</a:t>
            </a:r>
            <a:r>
              <a:rPr lang="en-US" dirty="0" err="1"/>
              <a:t>n_splits</a:t>
            </a:r>
            <a:r>
              <a:rPr lang="en-US" dirty="0"/>
              <a:t>=5, shuffle=True,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r>
              <a:rPr lang="en-US" dirty="0"/>
              <a:t>model = </a:t>
            </a:r>
            <a:r>
              <a:rPr lang="en-US" dirty="0" err="1"/>
              <a:t>RandomForestClassifier</a:t>
            </a:r>
            <a:r>
              <a:rPr lang="en-US" dirty="0"/>
              <a:t>(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Step 3: Cross-validation for accuracy </a:t>
            </a:r>
          </a:p>
          <a:p>
            <a:r>
              <a:rPr lang="en-US" dirty="0"/>
              <a:t>scores = </a:t>
            </a:r>
            <a:r>
              <a:rPr lang="en-US" dirty="0" err="1"/>
              <a:t>cross_val_score</a:t>
            </a:r>
            <a:r>
              <a:rPr lang="en-US" dirty="0"/>
              <a:t>(model, X, y, cv=</a:t>
            </a:r>
            <a:r>
              <a:rPr lang="en-US" dirty="0" err="1"/>
              <a:t>kf</a:t>
            </a:r>
            <a:r>
              <a:rPr lang="en-US" dirty="0"/>
              <a:t>, scoring='accuracy')</a:t>
            </a:r>
          </a:p>
          <a:p>
            <a:r>
              <a:rPr lang="en-US" dirty="0"/>
              <a:t>print("Cross-Validation Accuracies:", scores)</a:t>
            </a:r>
          </a:p>
          <a:p>
            <a:r>
              <a:rPr lang="en-US" dirty="0"/>
              <a:t>print("Average Accuracy:", </a:t>
            </a:r>
            <a:r>
              <a:rPr lang="en-US" dirty="0" err="1"/>
              <a:t>scores.mean</a:t>
            </a:r>
            <a:r>
              <a:rPr lang="en-US" dirty="0"/>
              <a:t>())</a:t>
            </a:r>
          </a:p>
          <a:p>
            <a:pPr marL="6858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 Step 4: Generate predictions using cross-validation</a:t>
            </a:r>
            <a:r>
              <a:rPr lang="en-US" dirty="0"/>
              <a:t> 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cross_val_predict</a:t>
            </a:r>
            <a:r>
              <a:rPr lang="en-US" dirty="0"/>
              <a:t>(model, X, y, cv=</a:t>
            </a:r>
            <a:r>
              <a:rPr lang="en-US" dirty="0" err="1"/>
              <a:t>kf</a:t>
            </a:r>
            <a:r>
              <a:rPr lang="en-US" dirty="0"/>
              <a:t>)</a:t>
            </a:r>
          </a:p>
          <a:p>
            <a:r>
              <a:rPr lang="en-US" dirty="0" err="1"/>
              <a:t>y_prob</a:t>
            </a:r>
            <a:r>
              <a:rPr lang="en-US" dirty="0"/>
              <a:t> = </a:t>
            </a:r>
            <a:r>
              <a:rPr lang="en-US" dirty="0" err="1"/>
              <a:t>cross_val_predict</a:t>
            </a:r>
            <a:r>
              <a:rPr lang="en-US" dirty="0"/>
              <a:t>(model, X, y, cv=</a:t>
            </a:r>
            <a:r>
              <a:rPr lang="en-US" dirty="0" err="1"/>
              <a:t>kf</a:t>
            </a:r>
            <a:r>
              <a:rPr lang="en-US" dirty="0"/>
              <a:t>, method='</a:t>
            </a:r>
            <a:r>
              <a:rPr lang="en-US" dirty="0" err="1"/>
              <a:t>predict_proba</a:t>
            </a:r>
            <a:r>
              <a:rPr lang="en-US" dirty="0"/>
              <a:t>')[:, 1]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26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57BD8-1105-4C5C-70BB-C67315FD07FF}"/>
              </a:ext>
            </a:extLst>
          </p:cNvPr>
          <p:cNvSpPr txBox="1"/>
          <p:nvPr/>
        </p:nvSpPr>
        <p:spPr>
          <a:xfrm>
            <a:off x="1600200" y="1295400"/>
            <a:ext cx="8613775" cy="175432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27432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>
                <a:solidFill>
                  <a:schemeClr val="tx2"/>
                </a:solidFill>
              </a:defRPr>
            </a:lvl1pPr>
            <a:lvl2pPr marL="640080" indent="-27432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>
                <a:solidFill>
                  <a:schemeClr val="tx2"/>
                </a:solidFill>
              </a:defRPr>
            </a:lvl2pPr>
            <a:lvl3pPr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>
                <a:solidFill>
                  <a:schemeClr val="tx2"/>
                </a:solidFill>
              </a:defRPr>
            </a:lvl3pPr>
            <a:lvl4pPr marL="112471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>
                <a:solidFill>
                  <a:schemeClr val="tx2"/>
                </a:solidFill>
              </a:defRPr>
            </a:lvl4pPr>
            <a:lvl5pPr marL="132588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baseline="0">
                <a:solidFill>
                  <a:schemeClr val="tx2"/>
                </a:solidFill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r>
              <a:rPr lang="en-US" sz="7200" dirty="0">
                <a:highlight>
                  <a:srgbClr val="FFFF00"/>
                </a:highlight>
              </a:rPr>
              <a:t>#  Step 5: Evaluate model performance </a:t>
            </a:r>
          </a:p>
          <a:p>
            <a:r>
              <a:rPr lang="en-US" sz="8000" dirty="0"/>
              <a:t>print("\</a:t>
            </a:r>
            <a:r>
              <a:rPr lang="en-US" sz="8000" dirty="0" err="1"/>
              <a:t>nConfusion</a:t>
            </a:r>
            <a:r>
              <a:rPr lang="en-US" sz="8000" dirty="0"/>
              <a:t> Matrix:\n", </a:t>
            </a:r>
            <a:r>
              <a:rPr lang="en-US" sz="8000" dirty="0" err="1"/>
              <a:t>confusion_matrix</a:t>
            </a:r>
            <a:r>
              <a:rPr lang="en-US" sz="8000" dirty="0"/>
              <a:t>(y, </a:t>
            </a:r>
            <a:r>
              <a:rPr lang="en-US" sz="8000" dirty="0" err="1"/>
              <a:t>y_pred</a:t>
            </a:r>
            <a:r>
              <a:rPr lang="en-US" sz="8000" dirty="0"/>
              <a:t>))</a:t>
            </a:r>
          </a:p>
          <a:p>
            <a:r>
              <a:rPr lang="en-US" sz="8000" dirty="0"/>
              <a:t>print("\</a:t>
            </a:r>
            <a:r>
              <a:rPr lang="en-US" sz="8000" dirty="0" err="1"/>
              <a:t>nClassification</a:t>
            </a:r>
            <a:r>
              <a:rPr lang="en-US" sz="8000" dirty="0"/>
              <a:t> Report:\n", </a:t>
            </a:r>
            <a:r>
              <a:rPr lang="en-US" sz="8000" dirty="0" err="1"/>
              <a:t>classification_report</a:t>
            </a:r>
            <a:r>
              <a:rPr lang="en-US" sz="8000" dirty="0"/>
              <a:t>(y, </a:t>
            </a:r>
            <a:r>
              <a:rPr lang="en-US" sz="8000" dirty="0" err="1"/>
              <a:t>y_pred</a:t>
            </a:r>
            <a:r>
              <a:rPr lang="en-US" sz="8000" dirty="0"/>
              <a:t>))</a:t>
            </a:r>
          </a:p>
          <a:p>
            <a:r>
              <a:rPr lang="en-US" sz="8000" dirty="0"/>
              <a:t>print("ROC AUC Score:", </a:t>
            </a:r>
            <a:r>
              <a:rPr lang="en-US" sz="8000" dirty="0" err="1"/>
              <a:t>roc_auc_score</a:t>
            </a:r>
            <a:r>
              <a:rPr lang="en-US" sz="8000" dirty="0"/>
              <a:t>(y, </a:t>
            </a:r>
            <a:r>
              <a:rPr lang="en-US" sz="8000" dirty="0" err="1"/>
              <a:t>y_prob</a:t>
            </a:r>
            <a:r>
              <a:rPr lang="en-US" sz="8000" dirty="0"/>
              <a:t>))</a:t>
            </a:r>
            <a:br>
              <a:rPr lang="en-US" sz="8000" dirty="0"/>
            </a:br>
            <a:endParaRPr lang="en-US" sz="8000" dirty="0"/>
          </a:p>
          <a:p>
            <a:r>
              <a:rPr lang="en-US" sz="8000" dirty="0">
                <a:highlight>
                  <a:srgbClr val="FFFF00"/>
                </a:highlight>
              </a:rPr>
              <a:t>#  Step 6: Plot the ROC Curve </a:t>
            </a:r>
          </a:p>
          <a:p>
            <a:r>
              <a:rPr lang="en-US" sz="8000" dirty="0" err="1"/>
              <a:t>fpr</a:t>
            </a:r>
            <a:r>
              <a:rPr lang="en-US" sz="8000" dirty="0"/>
              <a:t>, </a:t>
            </a:r>
            <a:r>
              <a:rPr lang="en-US" sz="8000" dirty="0" err="1"/>
              <a:t>tpr</a:t>
            </a:r>
            <a:r>
              <a:rPr lang="en-US" sz="8000" dirty="0"/>
              <a:t>, _ = </a:t>
            </a:r>
            <a:r>
              <a:rPr lang="en-US" sz="8000" dirty="0" err="1"/>
              <a:t>roc_curve</a:t>
            </a:r>
            <a:r>
              <a:rPr lang="en-US" sz="8000" dirty="0"/>
              <a:t>(y, </a:t>
            </a:r>
            <a:r>
              <a:rPr lang="en-US" sz="8000" dirty="0" err="1"/>
              <a:t>y_prob</a:t>
            </a:r>
            <a:r>
              <a:rPr lang="en-US" sz="8000" dirty="0"/>
              <a:t>)</a:t>
            </a:r>
          </a:p>
          <a:p>
            <a:r>
              <a:rPr lang="en-US" sz="8000" dirty="0" err="1"/>
              <a:t>plt.plot</a:t>
            </a:r>
            <a:r>
              <a:rPr lang="en-US" sz="8000" dirty="0"/>
              <a:t>(</a:t>
            </a:r>
            <a:r>
              <a:rPr lang="en-US" sz="8000" dirty="0" err="1"/>
              <a:t>fpr</a:t>
            </a:r>
            <a:r>
              <a:rPr lang="en-US" sz="8000" dirty="0"/>
              <a:t>, </a:t>
            </a:r>
            <a:r>
              <a:rPr lang="en-US" sz="8000" dirty="0" err="1"/>
              <a:t>tpr</a:t>
            </a:r>
            <a:r>
              <a:rPr lang="en-US" sz="8000" dirty="0"/>
              <a:t>, label=</a:t>
            </a:r>
            <a:r>
              <a:rPr lang="en-US" sz="8000" dirty="0" err="1"/>
              <a:t>f"AUC</a:t>
            </a:r>
            <a:r>
              <a:rPr lang="en-US" sz="8000" dirty="0"/>
              <a:t> = {</a:t>
            </a:r>
            <a:r>
              <a:rPr lang="en-US" sz="8000" dirty="0" err="1"/>
              <a:t>roc_auc_score</a:t>
            </a:r>
            <a:r>
              <a:rPr lang="en-US" sz="8000" dirty="0"/>
              <a:t>(y, </a:t>
            </a:r>
            <a:r>
              <a:rPr lang="en-US" sz="8000" dirty="0" err="1"/>
              <a:t>y_prob</a:t>
            </a:r>
            <a:r>
              <a:rPr lang="en-US" sz="8000" dirty="0"/>
              <a:t>):.2f}")</a:t>
            </a:r>
          </a:p>
          <a:p>
            <a:r>
              <a:rPr lang="en-US" sz="8000" dirty="0" err="1"/>
              <a:t>plt.plot</a:t>
            </a:r>
            <a:r>
              <a:rPr lang="en-US" sz="8000" dirty="0"/>
              <a:t>([0, 1], [0, 1], 'r--')  # Random guess line</a:t>
            </a:r>
          </a:p>
          <a:p>
            <a:r>
              <a:rPr lang="en-US" sz="8000" dirty="0" err="1"/>
              <a:t>plt.xlabel</a:t>
            </a:r>
            <a:r>
              <a:rPr lang="en-US" sz="8000" dirty="0"/>
              <a:t>("False Positive Rate")</a:t>
            </a:r>
          </a:p>
          <a:p>
            <a:r>
              <a:rPr lang="en-US" sz="8000" dirty="0" err="1"/>
              <a:t>plt.ylabel</a:t>
            </a:r>
            <a:r>
              <a:rPr lang="en-US" sz="8000" dirty="0"/>
              <a:t>("True Positive Rate")</a:t>
            </a:r>
          </a:p>
          <a:p>
            <a:r>
              <a:rPr lang="en-US" sz="8000" dirty="0" err="1"/>
              <a:t>plt.title</a:t>
            </a:r>
            <a:r>
              <a:rPr lang="en-US" sz="8000" dirty="0"/>
              <a:t>("ROC Curve")</a:t>
            </a:r>
          </a:p>
          <a:p>
            <a:r>
              <a:rPr lang="en-US" sz="8000" dirty="0" err="1"/>
              <a:t>plt.legend</a:t>
            </a:r>
            <a:r>
              <a:rPr lang="en-US" sz="8000" dirty="0"/>
              <a:t>()</a:t>
            </a:r>
          </a:p>
          <a:p>
            <a:r>
              <a:rPr lang="en-US" sz="8000" dirty="0" err="1"/>
              <a:t>plt.show</a:t>
            </a:r>
            <a:r>
              <a:rPr lang="en-US" sz="8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4413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1BB53-E322-AE38-2176-6636468A3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508" y="776030"/>
            <a:ext cx="5343082" cy="59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92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2A35-8440-452E-A8DA-BC2B8643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3185-457C-48C4-B647-F0719F0DF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Perform same activity on the iris </a:t>
            </a:r>
            <a:r>
              <a:rPr lang="en-US" sz="2800"/>
              <a:t>data set.</a:t>
            </a:r>
            <a:endParaRPr lang="en-US" sz="2800" dirty="0"/>
          </a:p>
          <a:p>
            <a:r>
              <a:rPr lang="en-US" sz="2800" dirty="0"/>
              <a:t>Show Confusion Matrix</a:t>
            </a:r>
          </a:p>
          <a:p>
            <a:r>
              <a:rPr lang="en-US" sz="2800" dirty="0"/>
              <a:t>Show Precision  and Recall Score</a:t>
            </a:r>
          </a:p>
          <a:p>
            <a:r>
              <a:rPr lang="en-US" sz="2800" dirty="0"/>
              <a:t>Show ROC Curve and AUC Score</a:t>
            </a:r>
          </a:p>
        </p:txBody>
      </p:sp>
    </p:spTree>
    <p:extLst>
      <p:ext uri="{BB962C8B-B14F-4D97-AF65-F5344CB8AC3E}">
        <p14:creationId xmlns:p14="http://schemas.microsoft.com/office/powerpoint/2010/main" val="3778226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Austin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22137</TotalTime>
  <Words>765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</vt:lpstr>
      <vt:lpstr>Garamond</vt:lpstr>
      <vt:lpstr>Wingdings 2</vt:lpstr>
      <vt:lpstr>Organic</vt:lpstr>
      <vt:lpstr>Austin</vt:lpstr>
      <vt:lpstr>Machine Learning LAB </vt:lpstr>
      <vt:lpstr>Lab Agenda</vt:lpstr>
      <vt:lpstr>Learning Evaluation </vt:lpstr>
      <vt:lpstr>K-Fold Cross Validation Process</vt:lpstr>
      <vt:lpstr>PowerPoint Presentation</vt:lpstr>
      <vt:lpstr>Loss Function (Confusion Matrix)</vt:lpstr>
      <vt:lpstr>K-Fold Cross Validation</vt:lpstr>
      <vt:lpstr>PowerPoint Presentation</vt:lpstr>
      <vt:lpstr>PowerPoint Presentation</vt:lpstr>
      <vt:lpstr>PowerPoint Presentation</vt:lpstr>
      <vt:lpstr>Activity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409</cp:revision>
  <dcterms:created xsi:type="dcterms:W3CDTF">2020-04-16T04:39:44Z</dcterms:created>
  <dcterms:modified xsi:type="dcterms:W3CDTF">2025-11-26T05:27:20Z</dcterms:modified>
</cp:coreProperties>
</file>