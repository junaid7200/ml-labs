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6"/>
  </p:notesMasterIdLst>
  <p:sldIdLst>
    <p:sldId id="256" r:id="rId2"/>
    <p:sldId id="509" r:id="rId3"/>
    <p:sldId id="510" r:id="rId4"/>
    <p:sldId id="511" r:id="rId5"/>
    <p:sldId id="516" r:id="rId6"/>
    <p:sldId id="512" r:id="rId7"/>
    <p:sldId id="517" r:id="rId8"/>
    <p:sldId id="513" r:id="rId9"/>
    <p:sldId id="514" r:id="rId10"/>
    <p:sldId id="515" r:id="rId11"/>
    <p:sldId id="506" r:id="rId12"/>
    <p:sldId id="519" r:id="rId13"/>
    <p:sldId id="520" r:id="rId14"/>
    <p:sldId id="51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>
        <p:scale>
          <a:sx n="66" d="100"/>
          <a:sy n="66" d="100"/>
        </p:scale>
        <p:origin x="592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KNdgpnRz7U2JtniqEc6_A1coUbGKIt02#2" TargetMode="External"/><Relationship Id="rId7" Type="http://schemas.openxmlformats.org/officeDocument/2006/relationships/hyperlink" Target="https://colab.research.google.com/drive/1KNdgpnRz7U2JtniqEc6_A1coUbGKIt02#6" TargetMode="External"/><Relationship Id="rId2" Type="http://schemas.openxmlformats.org/officeDocument/2006/relationships/hyperlink" Target="https://colab.research.google.com/drive/1KNdgpnRz7U2JtniqEc6_A1coUbGKIt02#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drive/1KNdgpnRz7U2JtniqEc6_A1coUbGKIt02#5" TargetMode="External"/><Relationship Id="rId5" Type="http://schemas.openxmlformats.org/officeDocument/2006/relationships/hyperlink" Target="https://colab.research.google.com/drive/1KNdgpnRz7U2JtniqEc6_A1coUbGKIt02#4" TargetMode="External"/><Relationship Id="rId4" Type="http://schemas.openxmlformats.org/officeDocument/2006/relationships/hyperlink" Target="https://colab.research.google.com/drive/1KNdgpnRz7U2JtniqEc6_A1coUbGKIt02#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/>
              <a:t>Week 05</a:t>
            </a:r>
            <a:endParaRPr lang="en-US" sz="48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504" y="1877659"/>
            <a:ext cx="10709369" cy="4144316"/>
          </a:xfrm>
        </p:spPr>
        <p:txBody>
          <a:bodyPr>
            <a:noAutofit/>
          </a:bodyPr>
          <a:lstStyle/>
          <a:p>
            <a:r>
              <a:rPr lang="en-US" dirty="0">
                <a:hlinkClick r:id="rId2"/>
              </a:rPr>
              <a:t>1 - Imports</a:t>
            </a:r>
            <a:endParaRPr lang="en-US" dirty="0"/>
          </a:p>
          <a:p>
            <a:r>
              <a:rPr lang="en-US" dirty="0">
                <a:hlinkClick r:id="rId3"/>
              </a:rPr>
              <a:t>2 - Loading the data</a:t>
            </a:r>
            <a:endParaRPr lang="en-US" dirty="0"/>
          </a:p>
          <a:p>
            <a:r>
              <a:rPr lang="en-US" dirty="0">
                <a:hlinkClick r:id="rId4"/>
              </a:rPr>
              <a:t>3 - Exploratory Analysis</a:t>
            </a:r>
            <a:endParaRPr lang="en-US" dirty="0"/>
          </a:p>
          <a:p>
            <a:r>
              <a:rPr lang="en-US" dirty="0">
                <a:hlinkClick r:id="rId5"/>
              </a:rPr>
              <a:t>4 - Preprocessing the data</a:t>
            </a:r>
            <a:endParaRPr lang="en-US" dirty="0"/>
          </a:p>
          <a:p>
            <a:r>
              <a:rPr lang="en-US" dirty="0">
                <a:hlinkClick r:id="rId6"/>
              </a:rPr>
              <a:t>5 - </a:t>
            </a:r>
            <a:r>
              <a:rPr lang="en-US" dirty="0" err="1">
                <a:hlinkClick r:id="rId6"/>
              </a:rPr>
              <a:t>Trainin</a:t>
            </a:r>
            <a:r>
              <a:rPr lang="en-US" dirty="0">
                <a:hlinkClick r:id="rId6"/>
              </a:rPr>
              <a:t> K-Means Clustering to Find Clusters</a:t>
            </a:r>
            <a:endParaRPr lang="en-US" dirty="0"/>
          </a:p>
          <a:p>
            <a:r>
              <a:rPr lang="en-US" dirty="0">
                <a:hlinkClick r:id="rId7"/>
              </a:rPr>
              <a:t>6 - Evaluating K-Means Clustering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51F1F8-B65D-5550-442C-FD52D06F6D7C}"/>
              </a:ext>
            </a:extLst>
          </p:cNvPr>
          <p:cNvSpPr txBox="1">
            <a:spLocks/>
          </p:cNvSpPr>
          <p:nvPr/>
        </p:nvSpPr>
        <p:spPr>
          <a:xfrm>
            <a:off x="2499006" y="501578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kumimoji="0" lang="en-US" sz="44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/>
                <a:ea typeface="+mj-ea"/>
                <a:cs typeface="+mj-cs"/>
              </a:rPr>
              <a:t>K-Means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19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06" y="481966"/>
            <a:ext cx="7941195" cy="100584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IMPORTS AND DATA LOADING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75717" y="1521015"/>
            <a:ext cx="10833683" cy="3886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pandas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sklearn.preprocessing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LabelEncoder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sklearn.cluster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KMeans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sklearn.decomposition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PCA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Step 1: Load the dataset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data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pd.read_csv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"/content/mushroomss.csv"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Display first few rows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"Dataset Preview:"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data.head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Step 2: Check for missing values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nMissing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Values in Each Column:"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data.isnull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().</a:t>
            </a: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40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86" y="2697891"/>
            <a:ext cx="10428514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"Dataset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shape: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mushroom_data.shape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"Target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distribution:\n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value_counts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()}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C5D31-D9C7-DAD4-DCD7-88B3F7FE0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777" y="4212634"/>
            <a:ext cx="3279823" cy="150187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7C2C543-830C-569F-ED90-794B84B31B5F}"/>
              </a:ext>
            </a:extLst>
          </p:cNvPr>
          <p:cNvSpPr txBox="1">
            <a:spLocks/>
          </p:cNvSpPr>
          <p:nvPr/>
        </p:nvSpPr>
        <p:spPr>
          <a:xfrm>
            <a:off x="2194206" y="481966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50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3BCE-2E87-467F-0749-09F30C78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29AB4-26D6-77F8-F357-6DF323A38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43" y="2529213"/>
            <a:ext cx="10834914" cy="3906454"/>
          </a:xfrm>
          <a:noFill/>
        </p:spPr>
        <p:txBody>
          <a:bodyPr wrap="square">
            <a:spAutoFit/>
          </a:bodyPr>
          <a:lstStyle/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plt.figure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figsize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=(15, 10))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(2, 3, 1)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x='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('Target Distribution')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(2, 3, 2)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x='cap-shape', hue='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('Cap Shape vs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'cap-color'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hue=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'Cap Color vs 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defTabSz="914400"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defTabSz="914400"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BD5416-13A3-B54A-1C31-FF5A631604C2}"/>
              </a:ext>
            </a:extLst>
          </p:cNvPr>
          <p:cNvSpPr txBox="1">
            <a:spLocks/>
          </p:cNvSpPr>
          <p:nvPr/>
        </p:nvSpPr>
        <p:spPr>
          <a:xfrm>
            <a:off x="2232707" y="1131145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BDD04E5-9013-CDD1-3454-D561BF93E257}"/>
              </a:ext>
            </a:extLst>
          </p:cNvPr>
          <p:cNvSpPr txBox="1"/>
          <p:nvPr/>
        </p:nvSpPr>
        <p:spPr>
          <a:xfrm>
            <a:off x="1076826" y="1199015"/>
            <a:ext cx="8902700" cy="3886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4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'population’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'Population Distribution'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5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'habitat’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'Habitat Distribution'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6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'odor'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hue=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'Odor vs 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plt.tight_layout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plt.show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930BD36-00E4-9FCC-544A-8E79280243F3}"/>
              </a:ext>
            </a:extLst>
          </p:cNvPr>
          <p:cNvSpPr txBox="1">
            <a:spLocks/>
          </p:cNvSpPr>
          <p:nvPr/>
        </p:nvSpPr>
        <p:spPr>
          <a:xfrm>
            <a:off x="3858307" y="0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11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9A36E1F-4A60-7593-350A-3DB5918DE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400" y="1253296"/>
            <a:ext cx="8429746" cy="56047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550207" y="84896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4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637" y="2151932"/>
            <a:ext cx="12750609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 Handle missing values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mushroom_data.dropna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Separate features and target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mushroom_features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mushroom_df.drop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'class'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axis=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Encode categorical features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encoder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OrdinalEncoder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mushroom_prepared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encoder.fit_transform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mushroom_features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mushroom_prep_df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pd.DataFrame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mushroom_prepared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columns=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mushroom_features.columns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3130C8-E69C-2976-EF3E-68BADB56398F}"/>
              </a:ext>
            </a:extLst>
          </p:cNvPr>
          <p:cNvSpPr txBox="1">
            <a:spLocks/>
          </p:cNvSpPr>
          <p:nvPr/>
        </p:nvSpPr>
        <p:spPr>
          <a:xfrm>
            <a:off x="2213457" y="71725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DATA PREPROCESSING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69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007" y="2556932"/>
            <a:ext cx="9601196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KMEANS CLUSTERING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Create and fit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model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k_clust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n_clusters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k_clust.fit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mushroom_prep_df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Get results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k_clust.labels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950BF59-283D-899F-AB77-02A12633EDBD}"/>
              </a:ext>
            </a:extLst>
          </p:cNvPr>
          <p:cNvSpPr txBox="1">
            <a:spLocks/>
          </p:cNvSpPr>
          <p:nvPr/>
        </p:nvSpPr>
        <p:spPr>
          <a:xfrm>
            <a:off x="2213457" y="71725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MODEL IMPLEMENTATION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0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315" y="2171920"/>
            <a:ext cx="10709369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# Map true labels to numerical values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map_dict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'e'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mushroom_labels.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map_dict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Calculate accuracy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"KMeans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Accuracy: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{accuracy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D65DD-A3E8-2BB6-775E-FCEA37D9B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30" b="97851"/>
          <a:stretch>
            <a:fillRect/>
          </a:stretch>
        </p:blipFill>
        <p:spPr>
          <a:xfrm>
            <a:off x="1117273" y="5111015"/>
            <a:ext cx="4978727" cy="37984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8F9EB84-B672-2077-FDAF-06CC40CB945C}"/>
              </a:ext>
            </a:extLst>
          </p:cNvPr>
          <p:cNvSpPr txBox="1">
            <a:spLocks/>
          </p:cNvSpPr>
          <p:nvPr/>
        </p:nvSpPr>
        <p:spPr>
          <a:xfrm>
            <a:off x="2416657" y="71119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MODEL EVALUATION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022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2" y="563032"/>
            <a:ext cx="9601196" cy="1303867"/>
          </a:xfrm>
        </p:spPr>
        <p:txBody>
          <a:bodyPr/>
          <a:lstStyle/>
          <a:p>
            <a:r>
              <a:rPr lang="en-US" dirty="0"/>
              <a:t>Preprocessing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1D97D-E70D-0A86-E91F-9E654E586F85}"/>
              </a:ext>
            </a:extLst>
          </p:cNvPr>
          <p:cNvSpPr txBox="1"/>
          <p:nvPr/>
        </p:nvSpPr>
        <p:spPr>
          <a:xfrm>
            <a:off x="971552" y="2402840"/>
            <a:ext cx="7734300" cy="3527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plt.figure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figsize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=(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cm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true_labels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k_labels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sns.heatmap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(cm,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annot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fmt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'd'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cmap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'Blues’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xticklabels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'Cluster 0'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'Cluster 1’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yticklabels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'Edible'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'Poisonous’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'Confusion Matrix'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plt.xlabel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'Predicted Clusters'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plt.ylabel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'True Labels'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Classification report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nClassification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Report:"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classification_report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true_labels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k_labels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'Edible'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'Poisonous'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]))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9055B5-116F-AE96-98ED-64C2AE6DE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6"/>
          <a:stretch>
            <a:fillRect/>
          </a:stretch>
        </p:blipFill>
        <p:spPr>
          <a:xfrm>
            <a:off x="8217773" y="2705100"/>
            <a:ext cx="3885327" cy="40513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ADD5716-7567-FC8E-A91D-89252F820F4C}"/>
              </a:ext>
            </a:extLst>
          </p:cNvPr>
          <p:cNvSpPr txBox="1">
            <a:spLocks/>
          </p:cNvSpPr>
          <p:nvPr/>
        </p:nvSpPr>
        <p:spPr>
          <a:xfrm>
            <a:off x="2416657" y="71119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Confusion matrix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785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0BF22-4151-6987-6041-2162B2D789A7}"/>
              </a:ext>
            </a:extLst>
          </p:cNvPr>
          <p:cNvSpPr txBox="1"/>
          <p:nvPr/>
        </p:nvSpPr>
        <p:spPr>
          <a:xfrm>
            <a:off x="1137202" y="996139"/>
            <a:ext cx="11054798" cy="604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LabelEncoder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sklearn.cluster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sklearn.decomposition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PCA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1: Load the dataset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"/content/mushroomss.csv"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Display first few rows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"Dataset Preview:"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data.head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2: Check for missing values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nMissing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Values in Each Column:"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data.isnull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3: Encode categorical features (if any)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label_encoders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column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data.columns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data[column].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dtype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'object'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le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LabelEncoder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data[column]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le.fit_transform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(data[column])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label_encoders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[column] = le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B52AB5-D389-81B1-5DF9-72D11A861E43}"/>
              </a:ext>
            </a:extLst>
          </p:cNvPr>
          <p:cNvSpPr txBox="1">
            <a:spLocks/>
          </p:cNvSpPr>
          <p:nvPr/>
        </p:nvSpPr>
        <p:spPr>
          <a:xfrm>
            <a:off x="2340457" y="0"/>
            <a:ext cx="7941195" cy="838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UNSUPERVISED LEARNING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3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FC62F8-D955-1B1C-AA37-BECDECF6FA85}"/>
              </a:ext>
            </a:extLst>
          </p:cNvPr>
          <p:cNvSpPr txBox="1"/>
          <p:nvPr/>
        </p:nvSpPr>
        <p:spPr>
          <a:xfrm>
            <a:off x="1193800" y="1033974"/>
            <a:ext cx="8890000" cy="4062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4: Apply K-Means Clustering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n_clusters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kmeans.fit_predict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5: Display cluster centers and counts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nCluster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Centers:\n"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kmeans.cluster_centers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nCluster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Counts:\n"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data[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6: Visualize clusters using PCA (2D)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pca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PCA(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n_components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reduced_data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pca.fit_transform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data.drop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axis=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plt.scatter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reduced_data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reduced_data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c=data[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viridis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'K-Means Clustering Visualization'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'PCA Component 1'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'PCA Component 2'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43289-A4D5-61FA-326C-FAB152545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569" y="3472606"/>
            <a:ext cx="2447965" cy="1239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7411D7-9E16-B9C6-1EDA-6DE98F86C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569" y="4852411"/>
            <a:ext cx="2526235" cy="20055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D350D98-F653-5CB9-3CA9-6553A1870B9C}"/>
              </a:ext>
            </a:extLst>
          </p:cNvPr>
          <p:cNvSpPr txBox="1">
            <a:spLocks/>
          </p:cNvSpPr>
          <p:nvPr/>
        </p:nvSpPr>
        <p:spPr>
          <a:xfrm>
            <a:off x="2340457" y="0"/>
            <a:ext cx="7941195" cy="838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UNSUPERVISED LEARNING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9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E09D1-0373-7B14-C466-8625DAF10545}"/>
              </a:ext>
            </a:extLst>
          </p:cNvPr>
          <p:cNvSpPr txBox="1"/>
          <p:nvPr/>
        </p:nvSpPr>
        <p:spPr>
          <a:xfrm>
            <a:off x="1172816" y="1720840"/>
            <a:ext cx="105851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Dataset: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</a:rPr>
              <a:t>Mall_Customers</a:t>
            </a:r>
            <a:endParaRPr lang="en-US" dirty="0"/>
          </a:p>
          <a:p>
            <a:pPr>
              <a:buNone/>
            </a:pPr>
            <a:r>
              <a:rPr lang="en-US" b="1" dirty="0"/>
              <a:t>Tasks: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Load the dataset and display it.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b="1" dirty="0"/>
              <a:t>K Mean </a:t>
            </a:r>
            <a:r>
              <a:rPr lang="en-US" dirty="0"/>
              <a:t>&amp; </a:t>
            </a:r>
            <a:r>
              <a:rPr lang="en-US" b="1" dirty="0"/>
              <a:t>DBSCAN Algorithm </a:t>
            </a:r>
            <a:r>
              <a:rPr lang="en-US" dirty="0"/>
              <a:t>and plot clusters using </a:t>
            </a:r>
            <a:r>
              <a:rPr lang="en-US" i="1" dirty="0"/>
              <a:t>Annual Income</a:t>
            </a:r>
            <a:r>
              <a:rPr lang="en-US" dirty="0"/>
              <a:t> vs </a:t>
            </a:r>
            <a:r>
              <a:rPr lang="en-US" i="1" dirty="0"/>
              <a:t>Spending Score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Scale features using </a:t>
            </a:r>
            <a:r>
              <a:rPr lang="en-US" b="1" dirty="0"/>
              <a:t>StandardScaler</a:t>
            </a:r>
            <a:r>
              <a:rPr lang="en-US" dirty="0"/>
              <a:t> and re-run K-Means.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both results  did scaling change clusters?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the </a:t>
            </a:r>
            <a:r>
              <a:rPr lang="en-US" b="1" dirty="0"/>
              <a:t>Elbow Method</a:t>
            </a:r>
            <a:r>
              <a:rPr lang="en-US" dirty="0"/>
              <a:t> to find the best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Briefly interpret each cluster.</a:t>
            </a:r>
          </a:p>
          <a:p>
            <a:pPr>
              <a:buNone/>
            </a:pPr>
            <a:r>
              <a:rPr lang="en-US" b="1" dirty="0"/>
              <a:t>Also:</a:t>
            </a:r>
            <a:br>
              <a:rPr lang="en-US" dirty="0"/>
            </a:br>
            <a:r>
              <a:rPr lang="en-US" dirty="0"/>
              <a:t>Add a fake feature </a:t>
            </a:r>
            <a:r>
              <a:rPr lang="en-US" dirty="0">
                <a:latin typeface="Courier New" panose="02070309020205020404" pitchFamily="49" charset="0"/>
              </a:rPr>
              <a:t>"</a:t>
            </a:r>
            <a:r>
              <a:rPr lang="en-US" dirty="0" err="1">
                <a:latin typeface="Courier New" panose="02070309020205020404" pitchFamily="49" charset="0"/>
              </a:rPr>
              <a:t>LuckyNumber</a:t>
            </a:r>
            <a:r>
              <a:rPr lang="en-US" dirty="0">
                <a:latin typeface="Courier New" panose="02070309020205020404" pitchFamily="49" charset="0"/>
              </a:rPr>
              <a:t>"</a:t>
            </a:r>
            <a:r>
              <a:rPr lang="en-US" dirty="0"/>
              <a:t> (random 0–100) and explain its effect on clustering.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BA7213-BC6C-9F2E-CF9C-F8942E783BB6}"/>
              </a:ext>
            </a:extLst>
          </p:cNvPr>
          <p:cNvSpPr txBox="1">
            <a:spLocks/>
          </p:cNvSpPr>
          <p:nvPr/>
        </p:nvSpPr>
        <p:spPr>
          <a:xfrm>
            <a:off x="7185991" y="426280"/>
            <a:ext cx="4473887" cy="8790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Activity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8511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18314</TotalTime>
  <Words>1169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Garamond</vt:lpstr>
      <vt:lpstr>Organic</vt:lpstr>
      <vt:lpstr>Machine Learning LAB </vt:lpstr>
      <vt:lpstr>PowerPoint Presentation</vt:lpstr>
      <vt:lpstr>IMPORTS AND DATA LOADING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Preprocessing Pipeline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dc:creator>Waqar Ahmad</dc:creator>
  <cp:lastModifiedBy>Kainat Abdullah</cp:lastModifiedBy>
  <cp:revision>277</cp:revision>
  <dcterms:created xsi:type="dcterms:W3CDTF">2020-04-16T04:39:44Z</dcterms:created>
  <dcterms:modified xsi:type="dcterms:W3CDTF">2025-10-14T05:33:44Z</dcterms:modified>
</cp:coreProperties>
</file>